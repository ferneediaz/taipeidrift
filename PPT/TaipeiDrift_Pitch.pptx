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1" r:id="rId7"/>
    <p:sldId id="262" r:id="rId8"/>
    <p:sldId id="266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E3EC889-C5A4-262E-CF48-692509BBB4DE}">
          <p14:sldIdLst>
            <p14:sldId id="256"/>
          </p14:sldIdLst>
        </p14:section>
        <p14:section name="Problem" id="{A5D758D8-9599-21DE-6880-2FDB21C7EF2E}">
          <p14:sldIdLst>
            <p14:sldId id="257"/>
          </p14:sldIdLst>
        </p14:section>
        <p14:section name="Solution" id="{2950B50B-CE70-96F2-C74B-9F1D69CF4F2D}">
          <p14:sldIdLst>
            <p14:sldId id="258"/>
            <p14:sldId id="264"/>
          </p14:sldIdLst>
        </p14:section>
        <p14:section name="Proof" id="{C5AB1F85-624A-7298-8725-7B00E262E98B}">
          <p14:sldIdLst>
            <p14:sldId id="259"/>
          </p14:sldIdLst>
        </p14:section>
        <p14:section name="Innovation" id="{220C8A1A-1C03-C26A-4646-13734A75CE85}">
          <p14:sldIdLst>
            <p14:sldId id="261"/>
          </p14:sldIdLst>
        </p14:section>
        <p14:section name="Market" id="{14776548-38C2-71D2-0D1C-B3989DE61716}">
          <p14:sldIdLst>
            <p14:sldId id="262"/>
            <p14:sldId id="266"/>
            <p14:sldId id="267"/>
          </p14:sldIdLst>
        </p14:section>
        <p14:section name="Team" id="{2A4D8290-0E8C-D017-A118-F2ADA7E3BF6F}">
          <p14:sldIdLst/>
        </p14:section>
        <p14:section name="Demo" id="{E84CC512-DC6E-3856-CA4C-35C14B79FBFA}">
          <p14:sldIdLst/>
        </p14:section>
        <p14:section name="Close" id="{A32693CD-7C47-9C8D-119E-B2C8DDBCF23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A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72075"/>
  </p:normalViewPr>
  <p:slideViewPr>
    <p:cSldViewPr snapToGrid="0" snapToObjects="1">
      <p:cViewPr>
        <p:scale>
          <a:sx n="86" d="100"/>
          <a:sy n="86" d="100"/>
        </p:scale>
        <p:origin x="192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error</c:v>
                </c:pt>
              </c:strCache>
            </c:strRef>
          </c:tx>
          <c:spPr>
            <a:solidFill>
              <a:srgbClr val="FF3B3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3B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3D-7C45-AB74-C1C1FE502A37}"/>
              </c:ext>
            </c:extLst>
          </c:dPt>
          <c:dPt>
            <c:idx val="1"/>
            <c:invertIfNegative val="0"/>
            <c:bubble3D val="0"/>
            <c:spPr>
              <a:solidFill>
                <a:srgbClr val="FF3B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3D-7C45-AB74-C1C1FE502A37}"/>
              </c:ext>
            </c:extLst>
          </c:dPt>
          <c:dPt>
            <c:idx val="2"/>
            <c:invertIfNegative val="0"/>
            <c:bubble3D val="0"/>
            <c:spPr>
              <a:solidFill>
                <a:srgbClr val="FFB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3D-7C45-AB74-C1C1FE502A37}"/>
              </c:ext>
            </c:extLst>
          </c:dPt>
          <c:dPt>
            <c:idx val="3"/>
            <c:invertIfNegative val="0"/>
            <c:bubble3D val="0"/>
            <c:spPr>
              <a:solidFill>
                <a:srgbClr val="2EE5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3D-7C45-AB74-C1C1FE502A37}"/>
              </c:ext>
            </c:extLst>
          </c:dPt>
          <c:dLbls>
            <c:numFmt formatCode="0&quot; 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2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IMU</c:v>
                </c:pt>
                <c:pt idx="1">
                  <c:v>+ SUN</c:v>
                </c:pt>
                <c:pt idx="2">
                  <c:v>+ CAMERA</c:v>
                </c:pt>
                <c:pt idx="3">
                  <c:v>+ MAP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3000</c:v>
                </c:pt>
                <c:pt idx="1">
                  <c:v>2400</c:v>
                </c:pt>
                <c:pt idx="2">
                  <c:v>57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3D-7C45-AB74-C1C1FE502A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1" i="0" u="none" strike="noStrike">
                <a:solidFill>
                  <a:srgbClr val="8B949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"/>
          <c:min val="1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357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[2:35-2:48] Play the video or point at it: GNSS cut mid-flight over Taichung, the estimate stays on the track. Right: a real camera on a cart finds its own path from the floor alone; the loop closes to 0.1 mm. [Replace the VIDEO LINK hyperlink with the real video URL before upload.]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90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[0:55-1:15] Each source we add cuts the error: IMU alone 3 km; the sun fixes the heading; the camera fixes the speed; the map fixes bring it to 18 m. Simulated 100 m flight over real Wufeng aerial imagery, with a map two years older than the ground. On sealed flights we never tuned on: 16 to 36 m, no wrong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[1:35-1:55] Three insights. The sun is a compass nobody can jam: heading error drops from 55 to 1.3 degrees. A free photo two years old is enough: no vendor 3D data. And it knows when it is wrong: zero wrong fixes accepted, the stated error bound held 100 % on sealed flights. Night: a thermal camera against the same maps, same filter; that is our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[1:55-2:20] Taiwan buys 48,750 drones in 2026-27, a 1.56-billion-dollar programme, built in Taiwan with no Chinese parts: open maps and local software fit that rule. Ukraine builds millions a year. Military drones: 22.8 billion dollars by 2030. We license per drone to the makers, about 200 dollars, plus map packs. One million drones is 200 million dollars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FAC2-0F6C-B5BF-040B-FDB54437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43226-760C-8E94-DC05-96CC1A7F3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DE4CB-58F9-14E6-DF07-403FFA7CF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</a:t>
            </a:r>
          </a:p>
          <a:p>
            <a:r>
              <a:rPr lang="en-US" dirty="0"/>
              <a:t>Requirement from our simulations</a:t>
            </a:r>
          </a:p>
          <a:p>
            <a:r>
              <a:rPr lang="en-US" dirty="0"/>
              <a:t>Recommended part</a:t>
            </a:r>
          </a:p>
          <a:p>
            <a:r>
              <a:rPr lang="en-US" dirty="0"/>
              <a:t>Unit price (list)</a:t>
            </a:r>
          </a:p>
          <a:p>
            <a:r>
              <a:rPr lang="en-US" dirty="0"/>
              <a:t>Added cost per drone</a:t>
            </a:r>
          </a:p>
          <a:p>
            <a:r>
              <a:rPr lang="en-US" dirty="0"/>
              <a:t>Barometer</a:t>
            </a:r>
          </a:p>
          <a:p>
            <a:r>
              <a:rPr lang="en-US" dirty="0"/>
              <a:t>≈ 10 Pa white noise (≈ 0.8 m), drift 0.65 Pa/√s</a:t>
            </a:r>
          </a:p>
          <a:p>
            <a:r>
              <a:rPr lang="en-US" dirty="0"/>
              <a:t>MS5611 (already on Pixhawk 6C); alt. DPS310, BMP390</a:t>
            </a:r>
          </a:p>
          <a:p>
            <a:r>
              <a:rPr lang="en-US" dirty="0"/>
              <a:t>$5.60–12.32 per chip [15][18][19]</a:t>
            </a:r>
          </a:p>
          <a:p>
            <a:r>
              <a:rPr lang="en-US" dirty="0"/>
              <a:t>$0 if the flight controller has one; else ≈ $6–12</a:t>
            </a:r>
          </a:p>
          <a:p>
            <a:r>
              <a:rPr lang="en-US" dirty="0"/>
              <a:t>Sun sensor</a:t>
            </a:r>
          </a:p>
          <a:p>
            <a:r>
              <a:rPr lang="en-US" dirty="0"/>
              <a:t>0.1°, ±65° field of view, 25 Hz (Fan et al. model)</a:t>
            </a:r>
          </a:p>
          <a:p>
            <a:r>
              <a:rPr lang="en-US" dirty="0"/>
              <a:t>Self-built: linear array + slit + MCU, or pinhole + small CMOS sensor</a:t>
            </a:r>
          </a:p>
          <a:p>
            <a:r>
              <a:rPr lang="en-US" dirty="0"/>
              <a:t>$5.49–8.06 linear array; ≈ $0.70–1 MCU; ≈ $32 CMOS module [9][10][12][13]</a:t>
            </a:r>
          </a:p>
          <a:p>
            <a:r>
              <a:rPr lang="en-US" dirty="0"/>
              <a:t>≈ $10–45 (estimate incl. unsourced mechanics)</a:t>
            </a:r>
          </a:p>
          <a:p>
            <a:r>
              <a:rPr lang="en-US" dirty="0"/>
              <a:t>LiDAR (optional)</a:t>
            </a:r>
          </a:p>
          <a:p>
            <a:r>
              <a:rPr lang="en-US" dirty="0"/>
              <a:t>Range ≥ 180 m for 65–120 m flights; km-class for laser TRN</a:t>
            </a:r>
          </a:p>
          <a:p>
            <a:r>
              <a:rPr lang="en-US" dirty="0" err="1"/>
              <a:t>LightWare</a:t>
            </a:r>
            <a:r>
              <a:rPr lang="en-US" dirty="0"/>
              <a:t> GRF-500 (500 m, 10.7 g) or SF30/D (200 m)</a:t>
            </a:r>
          </a:p>
          <a:p>
            <a:r>
              <a:rPr lang="en-US" dirty="0"/>
              <a:t>$399–€525 [22][25]</a:t>
            </a:r>
          </a:p>
          <a:p>
            <a:r>
              <a:rPr lang="en-US" dirty="0"/>
              <a:t>≈ $400–580</a:t>
            </a:r>
          </a:p>
          <a:p>
            <a:r>
              <a:rPr lang="en-US" dirty="0"/>
              <a:t>Scanning LiDAR (alternative)</a:t>
            </a:r>
          </a:p>
          <a:p>
            <a:r>
              <a:rPr lang="en-US" dirty="0"/>
              <a:t>Not used in our simulations</a:t>
            </a:r>
          </a:p>
          <a:p>
            <a:r>
              <a:rPr lang="en-US" dirty="0" err="1"/>
              <a:t>Livox</a:t>
            </a:r>
            <a:r>
              <a:rPr lang="en-US" dirty="0"/>
              <a:t> Avia + Jetson Orin Nano Super</a:t>
            </a:r>
          </a:p>
          <a:p>
            <a:r>
              <a:rPr lang="en-US" dirty="0"/>
              <a:t>$2,079 + $399 [29][32]</a:t>
            </a:r>
          </a:p>
          <a:p>
            <a:r>
              <a:rPr lang="en-US" dirty="0"/>
              <a:t>≈ $2,500; up to ≈ $8,400 with Ouster OS1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8AB26-A5B1-7C4B-01C6-5E48C69F9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3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7C56-6B86-25D1-5074-AE5E1720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51854-6795-F25B-DD94-D75239242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87D2F-C46F-158B-543E-282665A71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</a:t>
            </a:r>
          </a:p>
          <a:p>
            <a:r>
              <a:rPr lang="en-US" dirty="0"/>
              <a:t>Requirement from our simulations</a:t>
            </a:r>
          </a:p>
          <a:p>
            <a:r>
              <a:rPr lang="en-US" dirty="0"/>
              <a:t>Recommended part</a:t>
            </a:r>
          </a:p>
          <a:p>
            <a:r>
              <a:rPr lang="en-US" dirty="0"/>
              <a:t>Unit price (list)</a:t>
            </a:r>
          </a:p>
          <a:p>
            <a:r>
              <a:rPr lang="en-US" dirty="0"/>
              <a:t>Added cost per drone</a:t>
            </a:r>
          </a:p>
          <a:p>
            <a:r>
              <a:rPr lang="en-US" dirty="0"/>
              <a:t>Barometer</a:t>
            </a:r>
          </a:p>
          <a:p>
            <a:r>
              <a:rPr lang="en-US" dirty="0"/>
              <a:t>≈ 10 Pa white noise (≈ 0.8 m), drift 0.65 Pa/√s</a:t>
            </a:r>
          </a:p>
          <a:p>
            <a:r>
              <a:rPr lang="en-US" dirty="0"/>
              <a:t>MS5611 (already on Pixhawk 6C); alt. DPS310, BMP390</a:t>
            </a:r>
          </a:p>
          <a:p>
            <a:r>
              <a:rPr lang="en-US" dirty="0"/>
              <a:t>$5.60–12.32 per chip [15][18][19]</a:t>
            </a:r>
          </a:p>
          <a:p>
            <a:r>
              <a:rPr lang="en-US" dirty="0"/>
              <a:t>$0 if the flight controller has one; else ≈ $6–12</a:t>
            </a:r>
          </a:p>
          <a:p>
            <a:r>
              <a:rPr lang="en-US" dirty="0"/>
              <a:t>Sun sensor</a:t>
            </a:r>
          </a:p>
          <a:p>
            <a:r>
              <a:rPr lang="en-US" dirty="0"/>
              <a:t>0.1°, ±65° field of view, 25 Hz (Fan et al. model)</a:t>
            </a:r>
          </a:p>
          <a:p>
            <a:r>
              <a:rPr lang="en-US" dirty="0"/>
              <a:t>Self-built: linear array + slit + MCU, or pinhole + small CMOS sensor</a:t>
            </a:r>
          </a:p>
          <a:p>
            <a:r>
              <a:rPr lang="en-US" dirty="0"/>
              <a:t>$5.49–8.06 linear array; ≈ $0.70–1 MCU; ≈ $32 CMOS module [9][10][12][13]</a:t>
            </a:r>
          </a:p>
          <a:p>
            <a:r>
              <a:rPr lang="en-US" dirty="0"/>
              <a:t>≈ $10–45 (estimate incl. unsourced mechanics)</a:t>
            </a:r>
          </a:p>
          <a:p>
            <a:r>
              <a:rPr lang="en-US" dirty="0"/>
              <a:t>LiDAR (optional)</a:t>
            </a:r>
          </a:p>
          <a:p>
            <a:r>
              <a:rPr lang="en-US" dirty="0"/>
              <a:t>Range ≥ 180 m for 65–120 m flights; km-class for laser TRN</a:t>
            </a:r>
          </a:p>
          <a:p>
            <a:r>
              <a:rPr lang="en-US" dirty="0" err="1"/>
              <a:t>LightWare</a:t>
            </a:r>
            <a:r>
              <a:rPr lang="en-US" dirty="0"/>
              <a:t> GRF-500 (500 m, 10.7 g) or SF30/D (200 m)</a:t>
            </a:r>
          </a:p>
          <a:p>
            <a:r>
              <a:rPr lang="en-US" dirty="0"/>
              <a:t>$399–€525 [22][25]</a:t>
            </a:r>
          </a:p>
          <a:p>
            <a:r>
              <a:rPr lang="en-US" dirty="0"/>
              <a:t>≈ $400–580</a:t>
            </a:r>
          </a:p>
          <a:p>
            <a:r>
              <a:rPr lang="en-US" dirty="0"/>
              <a:t>Scanning LiDAR (alternative)</a:t>
            </a:r>
          </a:p>
          <a:p>
            <a:r>
              <a:rPr lang="en-US" dirty="0"/>
              <a:t>Not used in our simulations</a:t>
            </a:r>
          </a:p>
          <a:p>
            <a:r>
              <a:rPr lang="en-US" dirty="0" err="1"/>
              <a:t>Livox</a:t>
            </a:r>
            <a:r>
              <a:rPr lang="en-US" dirty="0"/>
              <a:t> Avia + Jetson Orin Nano Super</a:t>
            </a:r>
          </a:p>
          <a:p>
            <a:r>
              <a:rPr lang="en-US" dirty="0"/>
              <a:t>$2,079 + $399 [29][32]</a:t>
            </a:r>
          </a:p>
          <a:p>
            <a:r>
              <a:rPr lang="en-US" dirty="0"/>
              <a:t>≈ $2,500; up to ≈ $8,400 with Ouster OS1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F1D29-8196-495C-788F-3A2734BE4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8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4"/>
                </a:solidFill>
              </a:rPr>
              <a:t>TAIPEI DRIFT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hyperlink" Target="https://example.com/replace-with-demo-video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icle ring 0"/>
          <p:cNvSpPr/>
          <p:nvPr/>
        </p:nvSpPr>
        <p:spPr>
          <a:xfrm>
            <a:off x="6217920" y="594360"/>
            <a:ext cx="5669280" cy="5669280"/>
          </a:xfrm>
          <a:prstGeom prst="ellipse">
            <a:avLst/>
          </a:prstGeom>
          <a:ln w="12700">
            <a:solidFill>
              <a:srgbClr val="FFB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ticle ring 1"/>
          <p:cNvSpPr/>
          <p:nvPr/>
        </p:nvSpPr>
        <p:spPr>
          <a:xfrm>
            <a:off x="7295083" y="1671523"/>
            <a:ext cx="3514954" cy="3514954"/>
          </a:xfrm>
          <a:prstGeom prst="ellipse">
            <a:avLst/>
          </a:prstGeom>
          <a:ln w="12700">
            <a:solidFill>
              <a:srgbClr val="FFB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ticle ring 2"/>
          <p:cNvSpPr/>
          <p:nvPr/>
        </p:nvSpPr>
        <p:spPr>
          <a:xfrm>
            <a:off x="8343900" y="2720340"/>
            <a:ext cx="1417320" cy="1417320"/>
          </a:xfrm>
          <a:prstGeom prst="ellipse">
            <a:avLst/>
          </a:prstGeom>
          <a:ln w="25400">
            <a:solidFill>
              <a:srgbClr val="FFB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ticle h"/>
          <p:cNvSpPr/>
          <p:nvPr/>
        </p:nvSpPr>
        <p:spPr>
          <a:xfrm>
            <a:off x="5792724" y="3429000"/>
            <a:ext cx="6519672" cy="0"/>
          </a:xfrm>
          <a:prstGeom prst="line">
            <a:avLst/>
          </a:prstGeom>
          <a:noFill/>
          <a:ln w="12700">
            <a:solidFill>
              <a:srgbClr val="FFB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icle v"/>
          <p:cNvSpPr/>
          <p:nvPr/>
        </p:nvSpPr>
        <p:spPr>
          <a:xfrm>
            <a:off x="9052560" y="169164"/>
            <a:ext cx="0" cy="6519672"/>
          </a:xfrm>
          <a:prstGeom prst="line">
            <a:avLst/>
          </a:prstGeom>
          <a:noFill/>
          <a:ln w="12700">
            <a:solidFill>
              <a:srgbClr val="FFB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ticle dot"/>
          <p:cNvSpPr/>
          <p:nvPr/>
        </p:nvSpPr>
        <p:spPr>
          <a:xfrm>
            <a:off x="8942832" y="331927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EDTH TAIPEI 2026  |  CHALLENGE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TAIPEI</a:t>
            </a:r>
            <a:endParaRPr lang="en-US" sz="8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8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</a:t>
            </a:r>
            <a:endParaRPr lang="en-US" sz="8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63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 jammed. Still on target.</a:t>
            </a:r>
            <a:endParaRPr lang="en-US" sz="2800" dirty="0"/>
          </a:p>
        </p:txBody>
      </p:sp>
      <p:sp>
        <p:nvSpPr>
          <p:cNvPr id="1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pic>
        <p:nvPicPr>
          <p:cNvPr id="5" name="jamming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144" y="1708264"/>
            <a:ext cx="1840450" cy="1840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95360" y="3994485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096E2FFD-FD2E-107E-9FC6-7FD438C7FC0D}"/>
              </a:ext>
            </a:extLst>
          </p:cNvPr>
          <p:cNvSpPr txBox="1"/>
          <p:nvPr/>
        </p:nvSpPr>
        <p:spPr>
          <a:xfrm>
            <a:off x="640080" y="4709160"/>
            <a:ext cx="10212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accent2"/>
                </a:solidFill>
                <a:latin typeface="Arial Black" pitchFamily="34" charset="0"/>
                <a:cs typeface="Arial Black" pitchFamily="34" charset="-120"/>
              </a:rPr>
              <a:t>LOCALISATION 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2"/>
                </a:solidFill>
                <a:latin typeface="Arial Black" pitchFamily="34" charset="0"/>
                <a:cs typeface="Arial Black" pitchFamily="34" charset="-120"/>
              </a:rPr>
              <a:t>GETS EXPENSIVE FAST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D41B439-90D3-7287-E606-D92C4D02DB5A}"/>
              </a:ext>
            </a:extLst>
          </p:cNvPr>
          <p:cNvSpPr txBox="1"/>
          <p:nvPr/>
        </p:nvSpPr>
        <p:spPr>
          <a:xfrm>
            <a:off x="8132144" y="4189616"/>
            <a:ext cx="228844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</a:t>
            </a:r>
            <a:endParaRPr lang="en-US" sz="11500" dirty="0">
              <a:solidFill>
                <a:schemeClr val="accent2"/>
              </a:solidFill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BF87E084-F708-D0F2-A959-C5055DD27FC4}"/>
              </a:ext>
            </a:extLst>
          </p:cNvPr>
          <p:cNvSpPr txBox="1"/>
          <p:nvPr/>
        </p:nvSpPr>
        <p:spPr>
          <a:xfrm>
            <a:off x="640080" y="2349166"/>
            <a:ext cx="65102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accent2"/>
                </a:solidFill>
                <a:latin typeface="Arial Black" pitchFamily="34" charset="0"/>
                <a:cs typeface="Arial Black" pitchFamily="34" charset="-120"/>
              </a:rPr>
              <a:t>GNSS/LOCALISATION IS LOST WHEN JAMMING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3" name="CAMERA circle"/>
          <p:cNvSpPr/>
          <p:nvPr/>
        </p:nvSpPr>
        <p:spPr>
          <a:xfrm>
            <a:off x="731520" y="1828800"/>
            <a:ext cx="1600200" cy="16002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CAMERA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402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331720" y="18288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7" name="IMU circle"/>
          <p:cNvSpPr/>
          <p:nvPr/>
        </p:nvSpPr>
        <p:spPr>
          <a:xfrm>
            <a:off x="2834640" y="1828800"/>
            <a:ext cx="1600200" cy="16002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U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240280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60320" y="3611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434840" y="18288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11" name="SUN circle"/>
          <p:cNvSpPr/>
          <p:nvPr/>
        </p:nvSpPr>
        <p:spPr>
          <a:xfrm>
            <a:off x="4937760" y="1828800"/>
            <a:ext cx="1600200" cy="1600200"/>
          </a:xfrm>
          <a:prstGeom prst="ellipse">
            <a:avLst/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4663440" y="3611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18288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15" name="FREE MAP circle"/>
          <p:cNvSpPr/>
          <p:nvPr/>
        </p:nvSpPr>
        <p:spPr>
          <a:xfrm>
            <a:off x="7040880" y="1828800"/>
            <a:ext cx="1600200" cy="16002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FREE MAP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240280"/>
            <a:ext cx="777240" cy="7772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3611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MAP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641080" y="1828800"/>
            <a:ext cx="594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00" dirty="0"/>
          </a:p>
        </p:txBody>
      </p:sp>
      <p:sp>
        <p:nvSpPr>
          <p:cNvPr id="19" name="position circle"/>
          <p:cNvSpPr/>
          <p:nvPr/>
        </p:nvSpPr>
        <p:spPr>
          <a:xfrm>
            <a:off x="9281160" y="1691640"/>
            <a:ext cx="1874520" cy="18745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osition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2103120"/>
            <a:ext cx="1051560" cy="10515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5256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640080" y="4709160"/>
            <a:ext cx="10212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  <a:latin typeface="Arial Black" pitchFamily="34" charset="0"/>
                <a:cs typeface="Arial Black" pitchFamily="34" charset="-120"/>
              </a:rPr>
              <a:t>WE ARE THE FIRST COMBINING THESE SENSORS TO ONE POSITION 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IMU circle">
            <a:extLst>
              <a:ext uri="{FF2B5EF4-FFF2-40B4-BE49-F238E27FC236}">
                <a16:creationId xmlns:a16="http://schemas.microsoft.com/office/drawing/2014/main" id="{58EC1E4C-645D-4569-40C3-406938265D2B}"/>
              </a:ext>
            </a:extLst>
          </p:cNvPr>
          <p:cNvSpPr/>
          <p:nvPr/>
        </p:nvSpPr>
        <p:spPr>
          <a:xfrm>
            <a:off x="8229600" y="935851"/>
            <a:ext cx="1064860" cy="100865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7" name="Grafik 26" descr="Fracht Silhouette">
            <a:extLst>
              <a:ext uri="{FF2B5EF4-FFF2-40B4-BE49-F238E27FC236}">
                <a16:creationId xmlns:a16="http://schemas.microsoft.com/office/drawing/2014/main" id="{303EB4D3-D753-3948-6A84-F0E1AB992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66760" y="1028700"/>
            <a:ext cx="914400" cy="914400"/>
          </a:xfrm>
          <a:prstGeom prst="rect">
            <a:avLst/>
          </a:prstGeom>
        </p:spPr>
      </p:pic>
      <p:sp>
        <p:nvSpPr>
          <p:cNvPr id="28" name="Text 11">
            <a:extLst>
              <a:ext uri="{FF2B5EF4-FFF2-40B4-BE49-F238E27FC236}">
                <a16:creationId xmlns:a16="http://schemas.microsoft.com/office/drawing/2014/main" id="{45BB6EE8-A5BC-A95F-098D-E035701FDE6C}"/>
              </a:ext>
            </a:extLst>
          </p:cNvPr>
          <p:cNvSpPr txBox="1"/>
          <p:nvPr/>
        </p:nvSpPr>
        <p:spPr>
          <a:xfrm>
            <a:off x="7955280" y="1635195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800" dirty="0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8CC405F6-1063-BC1B-59DB-33D627E12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6940" y="2251522"/>
            <a:ext cx="773597" cy="7735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800" dirty="0"/>
          </a:p>
        </p:txBody>
      </p:sp>
      <p:pic>
        <p:nvPicPr>
          <p:cNvPr id="3" name="Wufeng flights" descr="/private/tmp/claude-501/-Users-felixzukunft-TaipeiDefence-TaipeiDrift-TestVideo/aaeebd69-8a61-47ee-b6da-664833c3e8b0/scratchpad/wufen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335" y="1253297"/>
            <a:ext cx="3498033" cy="4329356"/>
          </a:xfrm>
          <a:prstGeom prst="rect">
            <a:avLst/>
          </a:prstGeom>
        </p:spPr>
      </p:pic>
      <p:sp>
        <p:nvSpPr>
          <p:cNvPr id="4" name="play circle"/>
          <p:cNvSpPr/>
          <p:nvPr/>
        </p:nvSpPr>
        <p:spPr>
          <a:xfrm>
            <a:off x="4892040" y="219456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lay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834640"/>
            <a:ext cx="1097280" cy="1097280"/>
          </a:xfrm>
          <a:prstGeom prst="rect">
            <a:avLst/>
          </a:prstGeom>
        </p:spPr>
      </p:pic>
      <p:sp>
        <p:nvSpPr>
          <p:cNvPr id="6" name="Text 2">
            <a:hlinkClick r:id="rId5"/>
          </p:cNvPr>
          <p:cNvSpPr txBox="1"/>
          <p:nvPr/>
        </p:nvSpPr>
        <p:spPr>
          <a:xfrm>
            <a:off x="425196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kern="0" spc="4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LINK</a:t>
            </a:r>
            <a:endParaRPr lang="en-US" sz="1600" dirty="0"/>
          </a:p>
        </p:txBody>
      </p:sp>
      <p:pic>
        <p:nvPicPr>
          <p:cNvPr id="7" name="floor mosaic" descr="/private/tmp/claude-501/-Users-felixzukunft-TaipeiDefence-TaipeiDrift-TestVideo/aaeebd69-8a61-47ee-b6da-664833c3e8b0/scratchpad/floo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143000"/>
            <a:ext cx="2921406" cy="45720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30516" y="576312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Simulating in Taitung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1562944" y="5787189"/>
            <a:ext cx="1998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Testing on Campus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08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WORK?</a:t>
            </a:r>
            <a:endParaRPr lang="en-US" sz="1800" dirty="0"/>
          </a:p>
        </p:txBody>
      </p:sp>
      <p:graphicFrame>
        <p:nvGraphicFramePr>
          <p:cNvPr id="3" name="error by sensor chart"/>
          <p:cNvGraphicFramePr/>
          <p:nvPr/>
        </p:nvGraphicFramePr>
        <p:xfrm>
          <a:off x="640080" y="1280160"/>
          <a:ext cx="6949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0" y="15544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km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3474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dirty="0">
                <a:solidFill>
                  <a:schemeClr val="accent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m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error, 4.3 km without GNSS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OTHERS MISSED</a:t>
            </a:r>
            <a:endParaRPr lang="en-US" sz="1800" dirty="0"/>
          </a:p>
        </p:txBody>
      </p:sp>
      <p:pic>
        <p:nvPicPr>
          <p:cNvPr id="3" name="innovation icon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606040"/>
            <a:ext cx="33628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1.3°</a:t>
            </a:r>
            <a:endParaRPr 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336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from the sun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89204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UNJAMMABLE</a:t>
            </a:r>
            <a:endParaRPr lang="en-US" sz="1400" dirty="0"/>
          </a:p>
        </p:txBody>
      </p:sp>
      <p:pic>
        <p:nvPicPr>
          <p:cNvPr id="7" name="innovation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978" y="1554480"/>
            <a:ext cx="822960" cy="822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77258" y="2606040"/>
            <a:ext cx="33628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11000" dirty="0"/>
          </a:p>
        </p:txBody>
      </p:sp>
      <p:sp>
        <p:nvSpPr>
          <p:cNvPr id="9" name="Text 5"/>
          <p:cNvSpPr txBox="1"/>
          <p:nvPr/>
        </p:nvSpPr>
        <p:spPr>
          <a:xfrm>
            <a:off x="4277258" y="4389120"/>
            <a:ext cx="336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maps: free, 2 years old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277258" y="489204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LOCK-IN</a:t>
            </a:r>
            <a:endParaRPr lang="en-US" sz="1400" dirty="0"/>
          </a:p>
        </p:txBody>
      </p:sp>
      <p:pic>
        <p:nvPicPr>
          <p:cNvPr id="11" name="innovation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157" y="1554480"/>
            <a:ext cx="822960" cy="8229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914437" y="2606040"/>
            <a:ext cx="33628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1000" dirty="0"/>
          </a:p>
        </p:txBody>
      </p:sp>
      <p:sp>
        <p:nvSpPr>
          <p:cNvPr id="13" name="Text 8"/>
          <p:cNvSpPr txBox="1"/>
          <p:nvPr/>
        </p:nvSpPr>
        <p:spPr>
          <a:xfrm>
            <a:off x="7914437" y="4389120"/>
            <a:ext cx="336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fixes accepted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914437" y="489204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WHEN IT'S WRONG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58368317-1084-45B8-A110-5E4E8A44A39F}"/>
              </a:ext>
            </a:extLst>
          </p:cNvPr>
          <p:cNvSpPr/>
          <p:nvPr/>
        </p:nvSpPr>
        <p:spPr>
          <a:xfrm>
            <a:off x="1201938" y="1935979"/>
            <a:ext cx="8393928" cy="28031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48,750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drones, Taiwan, 2026–27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77258" y="155448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M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277258" y="30175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 a year, Ukraine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914437" y="155448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$22.8 B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7914437" y="30175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drones, 2030</a:t>
            </a:r>
            <a:endParaRPr lang="en-US" sz="1800" dirty="0"/>
          </a:p>
        </p:txBody>
      </p:sp>
      <p:sp>
        <p:nvSpPr>
          <p:cNvPr id="9" name="divider"/>
          <p:cNvSpPr/>
          <p:nvPr/>
        </p:nvSpPr>
        <p:spPr>
          <a:xfrm>
            <a:off x="640080" y="3977640"/>
            <a:ext cx="10911535" cy="0"/>
          </a:xfrm>
          <a:prstGeom prst="line">
            <a:avLst/>
          </a:prstGeom>
          <a:noFill/>
          <a:ln w="12700">
            <a:solidFill>
              <a:srgbClr val="3A4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42062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</a:t>
            </a:r>
            <a:endParaRPr lang="en-US" sz="9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3434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per drone,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to drone makers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97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Taiwan MND 2025; Kyiv Post / Bloomberg 2025; MarketsandMarkets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E7BB-9D16-72E2-7939-867238C9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1E025F-934F-D0B5-2132-7E49592AB4C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289264" y="677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PRICE</a:t>
            </a:r>
            <a:endParaRPr lang="en-US" sz="1800" dirty="0"/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37C7E6D5-0564-CD61-4A1A-0A4B21E5FB16}"/>
              </a:ext>
            </a:extLst>
          </p:cNvPr>
          <p:cNvGrpSpPr/>
          <p:nvPr/>
        </p:nvGrpSpPr>
        <p:grpSpPr>
          <a:xfrm>
            <a:off x="1835014" y="2294775"/>
            <a:ext cx="1064860" cy="1008658"/>
            <a:chOff x="731520" y="1558977"/>
            <a:chExt cx="1600200" cy="1600200"/>
          </a:xfrm>
        </p:grpSpPr>
        <p:sp>
          <p:nvSpPr>
            <p:cNvPr id="3" name="CAMERA circle">
              <a:extLst>
                <a:ext uri="{FF2B5EF4-FFF2-40B4-BE49-F238E27FC236}">
                  <a16:creationId xmlns:a16="http://schemas.microsoft.com/office/drawing/2014/main" id="{63303385-A7F7-F541-E3E6-F1A03A1AFF7F}"/>
                </a:ext>
              </a:extLst>
            </p:cNvPr>
            <p:cNvSpPr/>
            <p:nvPr/>
          </p:nvSpPr>
          <p:spPr>
            <a:xfrm>
              <a:off x="731520" y="1558977"/>
              <a:ext cx="1600200" cy="1600200"/>
            </a:xfrm>
            <a:prstGeom prst="ellipse">
              <a:avLst/>
            </a:prstGeom>
            <a:solidFill>
              <a:schemeClr val="accent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4" name="CAMERA icon" descr="preencoded.png">
              <a:extLst>
                <a:ext uri="{FF2B5EF4-FFF2-40B4-BE49-F238E27FC236}">
                  <a16:creationId xmlns:a16="http://schemas.microsoft.com/office/drawing/2014/main" id="{8CE11540-8C52-3A1E-2CDD-BD24F6C2E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3000" y="1970457"/>
              <a:ext cx="777240" cy="777240"/>
            </a:xfrm>
            <a:prstGeom prst="rect">
              <a:avLst/>
            </a:prstGeom>
          </p:spPr>
        </p:pic>
      </p:grpSp>
      <p:sp>
        <p:nvSpPr>
          <p:cNvPr id="5" name="Text 2">
            <a:extLst>
              <a:ext uri="{FF2B5EF4-FFF2-40B4-BE49-F238E27FC236}">
                <a16:creationId xmlns:a16="http://schemas.microsoft.com/office/drawing/2014/main" id="{DC8DB8E2-46AC-DC7C-69BE-DAF32C0D8A47}"/>
              </a:ext>
            </a:extLst>
          </p:cNvPr>
          <p:cNvSpPr txBox="1"/>
          <p:nvPr/>
        </p:nvSpPr>
        <p:spPr>
          <a:xfrm>
            <a:off x="6366636" y="3299917"/>
            <a:ext cx="1722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BAROMETER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BA1E7BA-39E4-3312-18E5-502F2BDB38E8}"/>
              </a:ext>
            </a:extLst>
          </p:cNvPr>
          <p:cNvSpPr txBox="1"/>
          <p:nvPr/>
        </p:nvSpPr>
        <p:spPr>
          <a:xfrm>
            <a:off x="3075799" y="2267273"/>
            <a:ext cx="334670" cy="10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C58D5CAA-BB09-7799-A8FC-31C11EB9D419}"/>
              </a:ext>
            </a:extLst>
          </p:cNvPr>
          <p:cNvGrpSpPr/>
          <p:nvPr/>
        </p:nvGrpSpPr>
        <p:grpSpPr>
          <a:xfrm>
            <a:off x="3447174" y="2295777"/>
            <a:ext cx="1064860" cy="1008658"/>
            <a:chOff x="2834640" y="1558977"/>
            <a:chExt cx="1600200" cy="1600200"/>
          </a:xfrm>
        </p:grpSpPr>
        <p:sp>
          <p:nvSpPr>
            <p:cNvPr id="7" name="IMU circle">
              <a:extLst>
                <a:ext uri="{FF2B5EF4-FFF2-40B4-BE49-F238E27FC236}">
                  <a16:creationId xmlns:a16="http://schemas.microsoft.com/office/drawing/2014/main" id="{C43686D1-EDCC-0B16-22D4-7FDC4A3AFA51}"/>
                </a:ext>
              </a:extLst>
            </p:cNvPr>
            <p:cNvSpPr/>
            <p:nvPr/>
          </p:nvSpPr>
          <p:spPr>
            <a:xfrm>
              <a:off x="2834640" y="1558977"/>
              <a:ext cx="1600200" cy="1600200"/>
            </a:xfrm>
            <a:prstGeom prst="ellipse">
              <a:avLst/>
            </a:prstGeom>
            <a:solidFill>
              <a:schemeClr val="accent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U icon" descr="preencoded.png">
              <a:extLst>
                <a:ext uri="{FF2B5EF4-FFF2-40B4-BE49-F238E27FC236}">
                  <a16:creationId xmlns:a16="http://schemas.microsoft.com/office/drawing/2014/main" id="{93B7E232-9198-46E5-9C0F-117DE40BD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6120" y="1970457"/>
              <a:ext cx="777240" cy="777240"/>
            </a:xfrm>
            <a:prstGeom prst="rect">
              <a:avLst/>
            </a:prstGeom>
          </p:spPr>
        </p:pic>
      </p:grpSp>
      <p:sp>
        <p:nvSpPr>
          <p:cNvPr id="9" name="Text 5">
            <a:extLst>
              <a:ext uri="{FF2B5EF4-FFF2-40B4-BE49-F238E27FC236}">
                <a16:creationId xmlns:a16="http://schemas.microsoft.com/office/drawing/2014/main" id="{6984298E-1D27-2FBD-0DA0-A8CC30A6F025}"/>
              </a:ext>
            </a:extLst>
          </p:cNvPr>
          <p:cNvSpPr txBox="1"/>
          <p:nvPr/>
        </p:nvSpPr>
        <p:spPr>
          <a:xfrm>
            <a:off x="1481590" y="3314891"/>
            <a:ext cx="1808962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8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197E609-97DF-718A-7D4E-44DEC660B2DF}"/>
              </a:ext>
            </a:extLst>
          </p:cNvPr>
          <p:cNvSpPr txBox="1"/>
          <p:nvPr/>
        </p:nvSpPr>
        <p:spPr>
          <a:xfrm>
            <a:off x="4628047" y="2318364"/>
            <a:ext cx="334670" cy="10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11" name="SUN circle">
            <a:extLst>
              <a:ext uri="{FF2B5EF4-FFF2-40B4-BE49-F238E27FC236}">
                <a16:creationId xmlns:a16="http://schemas.microsoft.com/office/drawing/2014/main" id="{CD15D222-201D-0FAA-3E9A-A6A69AE1F84A}"/>
              </a:ext>
            </a:extLst>
          </p:cNvPr>
          <p:cNvSpPr/>
          <p:nvPr/>
        </p:nvSpPr>
        <p:spPr>
          <a:xfrm>
            <a:off x="4988475" y="2280860"/>
            <a:ext cx="1064860" cy="1008658"/>
          </a:xfrm>
          <a:prstGeom prst="ellipse">
            <a:avLst/>
          </a:prstGeom>
          <a:solidFill>
            <a:srgbClr val="222A3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7606095-60AD-4567-349F-83B6532D221B}"/>
              </a:ext>
            </a:extLst>
          </p:cNvPr>
          <p:cNvSpPr txBox="1"/>
          <p:nvPr/>
        </p:nvSpPr>
        <p:spPr>
          <a:xfrm>
            <a:off x="3029398" y="3341299"/>
            <a:ext cx="1808962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</a:t>
            </a:r>
            <a:endParaRPr lang="en-US" sz="18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18E7F99-918E-87DC-AE4A-AD968B8DCD1C}"/>
              </a:ext>
            </a:extLst>
          </p:cNvPr>
          <p:cNvSpPr txBox="1"/>
          <p:nvPr/>
        </p:nvSpPr>
        <p:spPr>
          <a:xfrm>
            <a:off x="6200831" y="2256310"/>
            <a:ext cx="334670" cy="10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4EB446EC-3D6C-5E13-D610-A2DB317DD606}"/>
              </a:ext>
            </a:extLst>
          </p:cNvPr>
          <p:cNvGrpSpPr/>
          <p:nvPr/>
        </p:nvGrpSpPr>
        <p:grpSpPr>
          <a:xfrm>
            <a:off x="135134" y="2290180"/>
            <a:ext cx="1064860" cy="1008658"/>
            <a:chOff x="7040880" y="1558977"/>
            <a:chExt cx="1600200" cy="1600200"/>
          </a:xfrm>
        </p:grpSpPr>
        <p:sp>
          <p:nvSpPr>
            <p:cNvPr id="15" name="FREE MAP circle">
              <a:extLst>
                <a:ext uri="{FF2B5EF4-FFF2-40B4-BE49-F238E27FC236}">
                  <a16:creationId xmlns:a16="http://schemas.microsoft.com/office/drawing/2014/main" id="{BB54F369-1E9E-A436-D84D-9D9C301D4DAD}"/>
                </a:ext>
              </a:extLst>
            </p:cNvPr>
            <p:cNvSpPr/>
            <p:nvPr/>
          </p:nvSpPr>
          <p:spPr>
            <a:xfrm>
              <a:off x="7040880" y="1558977"/>
              <a:ext cx="1600200" cy="1600200"/>
            </a:xfrm>
            <a:prstGeom prst="ellipse">
              <a:avLst/>
            </a:prstGeom>
            <a:solidFill>
              <a:schemeClr val="accent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6" name="FREE MAP icon" descr="preencoded.png">
              <a:extLst>
                <a:ext uri="{FF2B5EF4-FFF2-40B4-BE49-F238E27FC236}">
                  <a16:creationId xmlns:a16="http://schemas.microsoft.com/office/drawing/2014/main" id="{7825A287-8353-4AF1-3AD9-4FE5BDD95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52360" y="1970457"/>
              <a:ext cx="777240" cy="777240"/>
            </a:xfrm>
            <a:prstGeom prst="rect">
              <a:avLst/>
            </a:prstGeom>
          </p:spPr>
        </p:pic>
      </p:grpSp>
      <p:sp>
        <p:nvSpPr>
          <p:cNvPr id="17" name="Text 11">
            <a:extLst>
              <a:ext uri="{FF2B5EF4-FFF2-40B4-BE49-F238E27FC236}">
                <a16:creationId xmlns:a16="http://schemas.microsoft.com/office/drawing/2014/main" id="{23A889D6-A174-15EE-6D88-E6B13770EA5B}"/>
              </a:ext>
            </a:extLst>
          </p:cNvPr>
          <p:cNvSpPr txBox="1"/>
          <p:nvPr/>
        </p:nvSpPr>
        <p:spPr>
          <a:xfrm>
            <a:off x="4627973" y="3347084"/>
            <a:ext cx="1808962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24A0EFAA-6BC5-76B4-04B7-0BE483BF1698}"/>
              </a:ext>
            </a:extLst>
          </p:cNvPr>
          <p:cNvSpPr txBox="1"/>
          <p:nvPr/>
        </p:nvSpPr>
        <p:spPr>
          <a:xfrm>
            <a:off x="9805362" y="2205178"/>
            <a:ext cx="395520" cy="10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00" dirty="0"/>
          </a:p>
        </p:txBody>
      </p:sp>
      <p:sp>
        <p:nvSpPr>
          <p:cNvPr id="19" name="position circle">
            <a:extLst>
              <a:ext uri="{FF2B5EF4-FFF2-40B4-BE49-F238E27FC236}">
                <a16:creationId xmlns:a16="http://schemas.microsoft.com/office/drawing/2014/main" id="{83B4D31B-8A1D-B7EB-8817-5FF229E8A3FE}"/>
              </a:ext>
            </a:extLst>
          </p:cNvPr>
          <p:cNvSpPr/>
          <p:nvPr/>
        </p:nvSpPr>
        <p:spPr>
          <a:xfrm>
            <a:off x="10459910" y="2060215"/>
            <a:ext cx="1247408" cy="1181571"/>
          </a:xfrm>
          <a:prstGeom prst="ellipse">
            <a:avLst/>
          </a:prstGeom>
          <a:solidFill>
            <a:schemeClr val="accent3"/>
          </a:solidFill>
          <a:ln/>
        </p:spPr>
        <p:txBody>
          <a:bodyPr anchor="ctr"/>
          <a:lstStyle/>
          <a:p>
            <a:pPr algn="ctr"/>
            <a:r>
              <a:rPr lang="en-US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$116-167</a:t>
            </a:r>
            <a:endParaRPr lang="en-US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E7CED17-7F80-FD81-251A-8B9F8B322B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9D7A5650-6D08-9D26-99F4-3A5C8E195206}"/>
              </a:ext>
            </a:extLst>
          </p:cNvPr>
          <p:cNvSpPr txBox="1"/>
          <p:nvPr/>
        </p:nvSpPr>
        <p:spPr>
          <a:xfrm>
            <a:off x="9054809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606BEC6-0A58-421B-75E4-742404A375FF}"/>
              </a:ext>
            </a:extLst>
          </p:cNvPr>
          <p:cNvSpPr txBox="1"/>
          <p:nvPr/>
        </p:nvSpPr>
        <p:spPr>
          <a:xfrm>
            <a:off x="10260842" y="3354269"/>
            <a:ext cx="1808962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PRICE</a:t>
            </a:r>
            <a:endParaRPr lang="en-US" sz="1800" dirty="0"/>
          </a:p>
        </p:txBody>
      </p:sp>
      <p:sp>
        <p:nvSpPr>
          <p:cNvPr id="48" name="CAMERA circle">
            <a:extLst>
              <a:ext uri="{FF2B5EF4-FFF2-40B4-BE49-F238E27FC236}">
                <a16:creationId xmlns:a16="http://schemas.microsoft.com/office/drawing/2014/main" id="{44118DE1-D698-417A-1DE7-A9DB0C4FF21B}"/>
              </a:ext>
            </a:extLst>
          </p:cNvPr>
          <p:cNvSpPr/>
          <p:nvPr/>
        </p:nvSpPr>
        <p:spPr>
          <a:xfrm>
            <a:off x="6605966" y="2269622"/>
            <a:ext cx="1064860" cy="100865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5B8DA7FA-C99E-49D8-DBB5-5AF2D0BA8AFD}"/>
              </a:ext>
            </a:extLst>
          </p:cNvPr>
          <p:cNvSpPr txBox="1"/>
          <p:nvPr/>
        </p:nvSpPr>
        <p:spPr>
          <a:xfrm>
            <a:off x="1385230" y="2327321"/>
            <a:ext cx="334670" cy="10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pic>
        <p:nvPicPr>
          <p:cNvPr id="52" name="Grafik 51">
            <a:extLst>
              <a:ext uri="{FF2B5EF4-FFF2-40B4-BE49-F238E27FC236}">
                <a16:creationId xmlns:a16="http://schemas.microsoft.com/office/drawing/2014/main" id="{EB27777C-2689-3796-58C9-281D7AC736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3578" y="2352557"/>
            <a:ext cx="865211" cy="865211"/>
          </a:xfrm>
          <a:prstGeom prst="rect">
            <a:avLst/>
          </a:prstGeom>
        </p:spPr>
      </p:pic>
      <p:sp>
        <p:nvSpPr>
          <p:cNvPr id="53" name="Text 11">
            <a:extLst>
              <a:ext uri="{FF2B5EF4-FFF2-40B4-BE49-F238E27FC236}">
                <a16:creationId xmlns:a16="http://schemas.microsoft.com/office/drawing/2014/main" id="{25C17E9F-DB8A-294D-E382-73CD9BC1A48A}"/>
              </a:ext>
            </a:extLst>
          </p:cNvPr>
          <p:cNvSpPr txBox="1"/>
          <p:nvPr/>
        </p:nvSpPr>
        <p:spPr>
          <a:xfrm>
            <a:off x="-248111" y="3322396"/>
            <a:ext cx="1808962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600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25B087F1-9A52-4AFD-48C0-C98D856C6E23}"/>
              </a:ext>
            </a:extLst>
          </p:cNvPr>
          <p:cNvSpPr txBox="1"/>
          <p:nvPr/>
        </p:nvSpPr>
        <p:spPr>
          <a:xfrm rot="21320482">
            <a:off x="7108291" y="229291"/>
            <a:ext cx="2132982" cy="1931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400" dirty="0">
              <a:solidFill>
                <a:schemeClr val="accent2"/>
              </a:solidFill>
            </a:endParaRPr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FC9F0B89-6D04-A2E0-E32F-6B828675E4E6}"/>
              </a:ext>
            </a:extLst>
          </p:cNvPr>
          <p:cNvSpPr txBox="1"/>
          <p:nvPr/>
        </p:nvSpPr>
        <p:spPr>
          <a:xfrm rot="20028440">
            <a:off x="1332807" y="1325349"/>
            <a:ext cx="2132982" cy="1931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dirty="0">
                <a:solidFill>
                  <a:schemeClr val="accent2"/>
                </a:solidFill>
              </a:rPr>
              <a:t>💵</a:t>
            </a:r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73A5B1AF-0DCD-56DE-1F57-3B5CDFBDD821}"/>
              </a:ext>
            </a:extLst>
          </p:cNvPr>
          <p:cNvSpPr txBox="1"/>
          <p:nvPr/>
        </p:nvSpPr>
        <p:spPr>
          <a:xfrm rot="20028440">
            <a:off x="6014297" y="1254928"/>
            <a:ext cx="2132982" cy="1931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dirty="0">
                <a:solidFill>
                  <a:schemeClr val="accent2"/>
                </a:solidFill>
              </a:rPr>
              <a:t>💵</a:t>
            </a:r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12638FEE-5F0B-5364-373A-F9E23BF510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7100" y="2431402"/>
            <a:ext cx="773597" cy="773597"/>
          </a:xfrm>
          <a:prstGeom prst="rect">
            <a:avLst/>
          </a:prstGeom>
        </p:spPr>
      </p:pic>
      <p:sp>
        <p:nvSpPr>
          <p:cNvPr id="64" name="Text 2">
            <a:extLst>
              <a:ext uri="{FF2B5EF4-FFF2-40B4-BE49-F238E27FC236}">
                <a16:creationId xmlns:a16="http://schemas.microsoft.com/office/drawing/2014/main" id="{BBDF9C2D-F5E9-281F-2C73-3126EEF10EE8}"/>
              </a:ext>
            </a:extLst>
          </p:cNvPr>
          <p:cNvSpPr txBox="1"/>
          <p:nvPr/>
        </p:nvSpPr>
        <p:spPr>
          <a:xfrm rot="20015960">
            <a:off x="1006508" y="14561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$6-12</a:t>
            </a:r>
            <a:endParaRPr lang="en-US" sz="1800" dirty="0"/>
          </a:p>
        </p:txBody>
      </p:sp>
      <p:sp>
        <p:nvSpPr>
          <p:cNvPr id="65" name="Text 2">
            <a:extLst>
              <a:ext uri="{FF2B5EF4-FFF2-40B4-BE49-F238E27FC236}">
                <a16:creationId xmlns:a16="http://schemas.microsoft.com/office/drawing/2014/main" id="{F916A1F3-7126-A27E-7179-A5368B734C47}"/>
              </a:ext>
            </a:extLst>
          </p:cNvPr>
          <p:cNvSpPr txBox="1"/>
          <p:nvPr/>
        </p:nvSpPr>
        <p:spPr>
          <a:xfrm rot="20015960">
            <a:off x="5684352" y="1365781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$10-45</a:t>
            </a:r>
            <a:endParaRPr lang="en-US" sz="1800" dirty="0"/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2C73DC4B-33DF-F68D-8AFF-D5DB3F800492}"/>
              </a:ext>
            </a:extLst>
          </p:cNvPr>
          <p:cNvSpPr txBox="1"/>
          <p:nvPr/>
        </p:nvSpPr>
        <p:spPr>
          <a:xfrm rot="20015960">
            <a:off x="6325586" y="51626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$400-8000</a:t>
            </a:r>
            <a:endParaRPr lang="en-US" sz="1800" dirty="0"/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4E48C8AC-C76D-529D-1B4F-94A884253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641885"/>
              </p:ext>
            </p:extLst>
          </p:nvPr>
        </p:nvGraphicFramePr>
        <p:xfrm>
          <a:off x="2989083" y="7098824"/>
          <a:ext cx="5731510" cy="3383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422305463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567286147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35681799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59895832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164810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Sensor (final version)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Specification in our simulator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Matching part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List price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Added cost per drone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72207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Down + forward camera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2 × 1024×1024 px, 90° FOV, 25 Hz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Platform camera; reference: Raspberry Pi Global Shutter Camera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$50 each [36]; Camera Module 3 wide $35 [14]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$0 if on the drone; else ≈ $70–100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661580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IMU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100 Hz, consumer MEMS (Mid-Air noise model)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ICM-42688-P on Pixhawk 6C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flight controller $211.99 [20][21]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$0 (on the flight controller)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503690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Barometer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50 Hz, 10 Pa noise (≈ 0.8 m), drift 0.65 Pa/√s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MS5611 on Pixhawk 6C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chip $5.78–12.32 [15]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$0 (on the flight controller)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400800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Sun sensor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0.1°, ±65° FOV (Fan et al. 2016)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Self-built: linear array behind a V-slit + RP2040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parts $6–9 + mechanics (estimate) [9][10][12]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≈ $10–20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60881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Downward range finder (optional, metric flow)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1 beam, 0.2–100 m, σ 0.02 m, 25 Hz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LightWare LW20/C (0.2–100 m, ±5 cm, 19 g)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$279 [23][24]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≈ $250–300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930846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RF direction finder (over water)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AIS receiver; 4 × 17 cm VHF stubs, RF switch at 1 kHz, one radio, −110 dBm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Low-cost: RTL-SDR V4 + ADG904 switch + 4 whips. Reference: HackRF One + Opera Cake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≈ $110–210 low-cost; ≈ €558 (≈ $615) reference [37–44]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≈ $110–210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04981113"/>
                  </a:ext>
                </a:extLst>
              </a:tr>
            </a:tbl>
          </a:graphicData>
        </a:graphic>
      </p:graphicFrame>
      <p:sp>
        <p:nvSpPr>
          <p:cNvPr id="69" name="IMU circle">
            <a:extLst>
              <a:ext uri="{FF2B5EF4-FFF2-40B4-BE49-F238E27FC236}">
                <a16:creationId xmlns:a16="http://schemas.microsoft.com/office/drawing/2014/main" id="{6C3F09F3-7199-B5AD-8C40-D1CD7AAE20D4}"/>
              </a:ext>
            </a:extLst>
          </p:cNvPr>
          <p:cNvSpPr/>
          <p:nvPr/>
        </p:nvSpPr>
        <p:spPr>
          <a:xfrm>
            <a:off x="8272785" y="3177045"/>
            <a:ext cx="1064860" cy="100865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1" name="Text 2">
            <a:extLst>
              <a:ext uri="{FF2B5EF4-FFF2-40B4-BE49-F238E27FC236}">
                <a16:creationId xmlns:a16="http://schemas.microsoft.com/office/drawing/2014/main" id="{13656046-78DB-2297-FF9B-FFAFE7E44EF5}"/>
              </a:ext>
            </a:extLst>
          </p:cNvPr>
          <p:cNvSpPr txBox="1"/>
          <p:nvPr/>
        </p:nvSpPr>
        <p:spPr>
          <a:xfrm>
            <a:off x="8944220" y="4379777"/>
            <a:ext cx="2331720" cy="72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Lidar </a:t>
            </a:r>
            <a:r>
              <a:rPr lang="en-US" sz="1600" b="1" kern="0" spc="300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exportkontroll</a:t>
            </a: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2000 bis 8000</a:t>
            </a:r>
            <a:endParaRPr lang="en-US" sz="1800" dirty="0"/>
          </a:p>
        </p:txBody>
      </p:sp>
      <p:pic>
        <p:nvPicPr>
          <p:cNvPr id="73" name="Grafik 72" descr="Fracht Silhouette">
            <a:extLst>
              <a:ext uri="{FF2B5EF4-FFF2-40B4-BE49-F238E27FC236}">
                <a16:creationId xmlns:a16="http://schemas.microsoft.com/office/drawing/2014/main" id="{7B6215A5-F4A2-4CA7-34F6-6187380933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66815" y="2338840"/>
            <a:ext cx="914400" cy="914400"/>
          </a:xfrm>
          <a:prstGeom prst="rect">
            <a:avLst/>
          </a:prstGeom>
        </p:spPr>
      </p:pic>
      <p:sp>
        <p:nvSpPr>
          <p:cNvPr id="74" name="Text 2">
            <a:extLst>
              <a:ext uri="{FF2B5EF4-FFF2-40B4-BE49-F238E27FC236}">
                <a16:creationId xmlns:a16="http://schemas.microsoft.com/office/drawing/2014/main" id="{BB6FAA57-7A9B-2075-4281-31A881D4ABBC}"/>
              </a:ext>
            </a:extLst>
          </p:cNvPr>
          <p:cNvSpPr txBox="1"/>
          <p:nvPr/>
        </p:nvSpPr>
        <p:spPr>
          <a:xfrm rot="20028440">
            <a:off x="7678566" y="1228059"/>
            <a:ext cx="2132982" cy="146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dirty="0">
                <a:solidFill>
                  <a:schemeClr val="accent2"/>
                </a:solidFill>
              </a:rPr>
              <a:t>💵</a:t>
            </a:r>
          </a:p>
        </p:txBody>
      </p:sp>
      <p:sp>
        <p:nvSpPr>
          <p:cNvPr id="75" name="Text 2">
            <a:extLst>
              <a:ext uri="{FF2B5EF4-FFF2-40B4-BE49-F238E27FC236}">
                <a16:creationId xmlns:a16="http://schemas.microsoft.com/office/drawing/2014/main" id="{EA593796-0063-886C-FCA9-CAC17EBDC087}"/>
              </a:ext>
            </a:extLst>
          </p:cNvPr>
          <p:cNvSpPr txBox="1"/>
          <p:nvPr/>
        </p:nvSpPr>
        <p:spPr>
          <a:xfrm rot="20015960">
            <a:off x="7552983" y="1305549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$100-110</a:t>
            </a:r>
            <a:endParaRPr lang="en-US" sz="1800" dirty="0"/>
          </a:p>
        </p:txBody>
      </p:sp>
      <p:sp>
        <p:nvSpPr>
          <p:cNvPr id="77" name="Text 2">
            <a:extLst>
              <a:ext uri="{FF2B5EF4-FFF2-40B4-BE49-F238E27FC236}">
                <a16:creationId xmlns:a16="http://schemas.microsoft.com/office/drawing/2014/main" id="{E68F9CEB-36EC-6B64-3781-E204D62050CF}"/>
              </a:ext>
            </a:extLst>
          </p:cNvPr>
          <p:cNvSpPr txBox="1"/>
          <p:nvPr/>
        </p:nvSpPr>
        <p:spPr>
          <a:xfrm>
            <a:off x="8090311" y="3319058"/>
            <a:ext cx="1722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800" dirty="0"/>
          </a:p>
        </p:txBody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06907C27-28DD-201C-6DAB-F8346CCA4F5C}"/>
              </a:ext>
            </a:extLst>
          </p:cNvPr>
          <p:cNvSpPr txBox="1"/>
          <p:nvPr/>
        </p:nvSpPr>
        <p:spPr>
          <a:xfrm>
            <a:off x="6367956" y="3436113"/>
            <a:ext cx="1722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BAROMETER</a:t>
            </a:r>
            <a:endParaRPr lang="en-US" sz="1800" dirty="0"/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A1B460BB-DE9E-61CB-C4F3-A65BAE535793}"/>
              </a:ext>
            </a:extLst>
          </p:cNvPr>
          <p:cNvSpPr txBox="1"/>
          <p:nvPr/>
        </p:nvSpPr>
        <p:spPr>
          <a:xfrm>
            <a:off x="7824168" y="2290180"/>
            <a:ext cx="334670" cy="10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8903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7830B-70E3-9D27-6400-C5A318F1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87FAF4-F0EE-71DC-CC48-75DB246B65D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289264" y="677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PRICE</a:t>
            </a:r>
            <a:endParaRPr lang="en-US" sz="1800" dirty="0"/>
          </a:p>
        </p:txBody>
      </p:sp>
      <p:sp>
        <p:nvSpPr>
          <p:cNvPr id="19" name="position circle">
            <a:extLst>
              <a:ext uri="{FF2B5EF4-FFF2-40B4-BE49-F238E27FC236}">
                <a16:creationId xmlns:a16="http://schemas.microsoft.com/office/drawing/2014/main" id="{342F74DE-5519-4A18-C3FA-12BFA63BC03E}"/>
              </a:ext>
            </a:extLst>
          </p:cNvPr>
          <p:cNvSpPr/>
          <p:nvPr/>
        </p:nvSpPr>
        <p:spPr>
          <a:xfrm>
            <a:off x="5712290" y="409859"/>
            <a:ext cx="1247408" cy="1181571"/>
          </a:xfrm>
          <a:prstGeom prst="ellipse">
            <a:avLst/>
          </a:prstGeom>
          <a:solidFill>
            <a:schemeClr val="accent3"/>
          </a:solidFill>
          <a:ln/>
        </p:spPr>
        <p:txBody>
          <a:bodyPr anchor="ctr"/>
          <a:lstStyle/>
          <a:p>
            <a:pPr algn="ctr"/>
            <a:r>
              <a:rPr lang="en-US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$116-167</a:t>
            </a:r>
            <a:endParaRPr lang="en-US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4D17A9A-9033-B20B-0519-EA6E7F4269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45BA4637-F45B-0DE9-D514-2BB04ECC0DC1}"/>
              </a:ext>
            </a:extLst>
          </p:cNvPr>
          <p:cNvSpPr txBox="1"/>
          <p:nvPr/>
        </p:nvSpPr>
        <p:spPr>
          <a:xfrm>
            <a:off x="9054809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482E6BBF-0694-7CF9-6027-2CF8CADA39E9}"/>
              </a:ext>
            </a:extLst>
          </p:cNvPr>
          <p:cNvSpPr txBox="1"/>
          <p:nvPr/>
        </p:nvSpPr>
        <p:spPr>
          <a:xfrm>
            <a:off x="5431513" y="1715052"/>
            <a:ext cx="1808962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PRICE</a:t>
            </a:r>
            <a:endParaRPr lang="en-US" sz="1800" dirty="0"/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2D540205-5B91-FDA5-5D4E-31934648D86D}"/>
              </a:ext>
            </a:extLst>
          </p:cNvPr>
          <p:cNvGraphicFramePr>
            <a:graphicFrameLocks noGrp="1"/>
          </p:cNvGraphicFramePr>
          <p:nvPr/>
        </p:nvGraphicFramePr>
        <p:xfrm>
          <a:off x="2989083" y="7098824"/>
          <a:ext cx="5731510" cy="3383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422305463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567286147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35681799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59895832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164810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Sensor (final version)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Specification in our simulator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Matching part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List price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Added cost per drone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72207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Down + forward camera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2 × 1024×1024 px, 90° FOV, 25 Hz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Platform camera; reference: Raspberry Pi Global Shutter Camera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$50 each [36]; Camera Module 3 wide $35 [14]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$0 if on the drone; else ≈ $70–100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661580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IMU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100 Hz, consumer MEMS (Mid-Air noise model)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ICM-42688-P on Pixhawk 6C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flight controller $211.99 [20][21]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$0 (on the flight controller)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503690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Barometer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50 Hz, 10 Pa noise (≈ 0.8 m), drift 0.65 Pa/√s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MS5611 on Pixhawk 6C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chip $5.78–12.32 [15]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$0 (on the flight controller)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400800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Sun sensor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0.1°, ±65° FOV (Fan et al. 2016)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Self-built: linear array behind a V-slit + RP2040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parts $6–9 + mechanics (estimate) [9][10][12]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≈ $10–20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60881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Downward range finder (optional, metric flow)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1 beam, 0.2–100 m, σ 0.02 m, 25 Hz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LightWare LW20/C (0.2–100 m, ±5 cm, 19 g)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$279 [23][24]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≈ $250–300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930846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RF direction finder (over water)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AIS receiver; 4 × 17 cm VHF stubs, RF switch at 1 kHz, one radio, −110 dBm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Low-cost: RTL-SDR V4 + ADG904 switch + 4 whips. Reference: HackRF One + Opera Cake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≈ $110–210 low-cost; ≈ €558 (≈ $615) reference [37–44]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50">
                          <a:effectLst/>
                        </a:rPr>
                        <a:t>≈ $110–210</a:t>
                      </a:r>
                      <a:endParaRPr lang="en-DE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04981113"/>
                  </a:ext>
                </a:extLst>
              </a:tr>
            </a:tbl>
          </a:graphicData>
        </a:graphic>
      </p:graphicFrame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FB8107EB-EB7E-0EE7-3DC6-AE57C8E8C579}"/>
              </a:ext>
            </a:extLst>
          </p:cNvPr>
          <p:cNvCxnSpPr>
            <a:cxnSpLocks/>
          </p:cNvCxnSpPr>
          <p:nvPr/>
        </p:nvCxnSpPr>
        <p:spPr>
          <a:xfrm>
            <a:off x="374755" y="2488368"/>
            <a:ext cx="44520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2C5D45AA-8D96-1597-3A51-A4584E67C9CB}"/>
              </a:ext>
            </a:extLst>
          </p:cNvPr>
          <p:cNvCxnSpPr>
            <a:cxnSpLocks/>
          </p:cNvCxnSpPr>
          <p:nvPr/>
        </p:nvCxnSpPr>
        <p:spPr>
          <a:xfrm>
            <a:off x="7457094" y="2460886"/>
            <a:ext cx="44520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8">
            <a:extLst>
              <a:ext uri="{FF2B5EF4-FFF2-40B4-BE49-F238E27FC236}">
                <a16:creationId xmlns:a16="http://schemas.microsoft.com/office/drawing/2014/main" id="{91D1BE46-F064-9398-031D-3B185B58726C}"/>
              </a:ext>
            </a:extLst>
          </p:cNvPr>
          <p:cNvSpPr txBox="1"/>
          <p:nvPr/>
        </p:nvSpPr>
        <p:spPr>
          <a:xfrm>
            <a:off x="5854838" y="1763403"/>
            <a:ext cx="124868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96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E80B7D-175C-0054-590C-B01C12540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045" y="3380957"/>
            <a:ext cx="2927497" cy="2242034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3A6E23BD-4CBE-5054-EE18-92FB56D42315}"/>
              </a:ext>
            </a:extLst>
          </p:cNvPr>
          <p:cNvSpPr txBox="1"/>
          <p:nvPr/>
        </p:nvSpPr>
        <p:spPr>
          <a:xfrm>
            <a:off x="5569505" y="3536275"/>
            <a:ext cx="2132982" cy="1931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dirty="0">
                <a:solidFill>
                  <a:schemeClr val="accent2"/>
                </a:solidFill>
              </a:rPr>
              <a:t>💸💸</a:t>
            </a: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9B9BFFFD-91F2-EB07-91FE-FFF885C4B151}"/>
              </a:ext>
            </a:extLst>
          </p:cNvPr>
          <p:cNvSpPr txBox="1"/>
          <p:nvPr/>
        </p:nvSpPr>
        <p:spPr>
          <a:xfrm>
            <a:off x="7457094" y="3951098"/>
            <a:ext cx="5537234" cy="82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accent2"/>
                </a:solidFill>
                <a:latin typeface="Arial Black" pitchFamily="34" charset="0"/>
                <a:cs typeface="Arial Black" pitchFamily="34" charset="-120"/>
              </a:rPr>
              <a:t>$400-8000</a:t>
            </a: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38EDE908-059B-61F9-0692-989A3CACA349}"/>
              </a:ext>
            </a:extLst>
          </p:cNvPr>
          <p:cNvSpPr txBox="1"/>
          <p:nvPr/>
        </p:nvSpPr>
        <p:spPr>
          <a:xfrm>
            <a:off x="5569505" y="4423683"/>
            <a:ext cx="2132982" cy="1931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dirty="0">
                <a:solidFill>
                  <a:schemeClr val="accent2"/>
                </a:solidFill>
              </a:rPr>
              <a:t>‼️</a:t>
            </a: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A91B0B3C-AB93-0B14-FEB7-31DAB30CD438}"/>
              </a:ext>
            </a:extLst>
          </p:cNvPr>
          <p:cNvSpPr txBox="1"/>
          <p:nvPr/>
        </p:nvSpPr>
        <p:spPr>
          <a:xfrm>
            <a:off x="7457094" y="4847407"/>
            <a:ext cx="5537234" cy="82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 err="1">
                <a:solidFill>
                  <a:schemeClr val="accent2"/>
                </a:solidFill>
                <a:latin typeface="Arial Black" pitchFamily="34" charset="0"/>
                <a:cs typeface="Arial Black" pitchFamily="34" charset="-120"/>
              </a:rPr>
              <a:t>Exportcontrol</a:t>
            </a:r>
            <a:endParaRPr lang="en-US" sz="3600" dirty="0">
              <a:solidFill>
                <a:schemeClr val="accent2"/>
              </a:solidFill>
              <a:latin typeface="Arial Black" pitchFamily="34" charset="0"/>
              <a:cs typeface="Arial Black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4750083"/>
      </p:ext>
    </p:extLst>
  </p:cSld>
  <p:clrMapOvr>
    <a:masterClrMapping/>
  </p:clrMapOvr>
</p:sld>
</file>

<file path=ppt/theme/theme1.xml><?xml version="1.0" encoding="utf-8"?>
<a:theme xmlns:a="http://schemas.openxmlformats.org/drawingml/2006/main" name="Taipei Drift Night">
  <a:themeElements>
    <a:clrScheme name="Taipei Drift Night">
      <a:dk1>
        <a:srgbClr val="05070A"/>
      </a:dk1>
      <a:lt1>
        <a:srgbClr val="FFFFFF"/>
      </a:lt1>
      <a:dk2>
        <a:srgbClr val="161B22"/>
      </a:dk2>
      <a:lt2>
        <a:srgbClr val="8B949E"/>
      </a:lt2>
      <a:accent1>
        <a:srgbClr val="FFB000"/>
      </a:accent1>
      <a:accent2>
        <a:srgbClr val="FF3B30"/>
      </a:accent2>
      <a:accent3>
        <a:srgbClr val="2EE57A"/>
      </a:accent3>
      <a:accent4>
        <a:srgbClr val="3A424D"/>
      </a:accent4>
      <a:accent5>
        <a:srgbClr val="C9D1D9"/>
      </a:accent5>
      <a:accent6>
        <a:srgbClr val="232A33"/>
      </a:accent6>
      <a:hlink>
        <a:srgbClr val="FFB000"/>
      </a:hlink>
      <a:folHlink>
        <a:srgbClr val="C98C00"/>
      </a:folHlink>
    </a:clrScheme>
    <a:fontScheme name="Taipei Drift Night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1539</Words>
  <Application>Microsoft Macintosh PowerPoint</Application>
  <PresentationFormat>Breitbild</PresentationFormat>
  <Paragraphs>226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Taipei Drift Night</vt:lpstr>
      <vt:lpstr>PowerPoint-Präsentation</vt:lpstr>
      <vt:lpstr>THE PROBLEM</vt:lpstr>
      <vt:lpstr>OUR SOLUTION</vt:lpstr>
      <vt:lpstr>DEMO</vt:lpstr>
      <vt:lpstr>DOES IT WORK?</vt:lpstr>
      <vt:lpstr>WHAT OTHERS MISSED</vt:lpstr>
      <vt:lpstr>THE MARKET</vt:lpstr>
      <vt:lpstr>OUR PRICE</vt:lpstr>
      <vt:lpstr>OUR PRICE</vt:lpstr>
    </vt:vector>
  </TitlesOfParts>
  <Company>Team Taipei Drift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Taipei Drift</dc:title>
  <dc:subject>PptxGenJS Presentation</dc:subject>
  <dc:creator>Team Taipei Drift</dc:creator>
  <cp:lastModifiedBy>Felix Zukunft</cp:lastModifiedBy>
  <cp:revision>5</cp:revision>
  <dcterms:created xsi:type="dcterms:W3CDTF">2026-10-03T13:09:36Z</dcterms:created>
  <dcterms:modified xsi:type="dcterms:W3CDTF">2026-10-03T16:29:00Z</dcterms:modified>
</cp:coreProperties>
</file>